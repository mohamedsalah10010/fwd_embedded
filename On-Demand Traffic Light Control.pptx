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8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 title="Page Number Shape">
            <a:extLst>
              <a:ext uri="{FF2B5EF4-FFF2-40B4-BE49-F238E27FC236}">
                <a16:creationId xmlns:a16="http://schemas.microsoft.com/office/drawing/2014/main" id="{DD4C4B28-6B4B-4445-8535-F516D74E4AA9}"/>
              </a:ext>
            </a:extLst>
          </p:cNvPr>
          <p:cNvSpPr/>
          <p:nvPr/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12" name="Straight Connector 11" title="Verticle Rule Line">
            <a:extLst>
              <a:ext uri="{FF2B5EF4-FFF2-40B4-BE49-F238E27FC236}">
                <a16:creationId xmlns:a16="http://schemas.microsoft.com/office/drawing/2014/main" id="{0CB1C732-7193-4253-8746-850D090A6B4E}"/>
              </a:ext>
            </a:extLst>
          </p:cNvPr>
          <p:cNvCxnSpPr>
            <a:cxnSpLocks/>
          </p:cNvCxnSpPr>
          <p:nvPr/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03AA199-952B-427F-A5BE-B97D25FD07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992" y="1143000"/>
            <a:ext cx="6720840" cy="3730752"/>
          </a:xfrm>
        </p:spPr>
        <p:txBody>
          <a:bodyPr anchor="t">
            <a:normAutofit/>
          </a:bodyPr>
          <a:lstStyle>
            <a:lvl1pPr algn="l">
              <a:defRPr sz="7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1AA393-A876-475F-A05B-1CCAB6C1F0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992" y="5010912"/>
            <a:ext cx="6720840" cy="704088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95621-D631-4F31-AEEF-C8574E50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86356" y="6007608"/>
            <a:ext cx="3143643" cy="365125"/>
          </a:xfrm>
        </p:spPr>
        <p:txBody>
          <a:bodyPr/>
          <a:lstStyle/>
          <a:p>
            <a:fld id="{53BEF823-48A5-43FC-BE03-E79964288B41}" type="datetimeFigureOut">
              <a:rPr lang="en-US" smtClean="0"/>
              <a:t>10/26/2022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EE125-77AD-4E23-AFB7-C5CFDEACA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8991" y="6007608"/>
            <a:ext cx="672083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69682-B530-4F52-87B9-39464A093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662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351BD-5252-4168-A69E-C6864AE29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48EEE-19C9-493B-836D-73B9E4A0B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A6BFE-11ED-4FB4-9F65-508B5B0F0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10/26/2022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0F536E-BEFF-4E0D-B4EC-39DE28C67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EE02AF-6FE1-4972-BD48-A82499AD6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162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452EE-D9FC-4E51-9BFF-141F91923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051" y="2414016"/>
            <a:ext cx="10666949" cy="3099816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086C4-4949-4E7A-A182-6709496A1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8952" y="1389888"/>
            <a:ext cx="10671048" cy="822960"/>
          </a:xfrm>
        </p:spPr>
        <p:txBody>
          <a:bodyPr anchor="ctr">
            <a:normAutofit/>
          </a:bodyPr>
          <a:lstStyle>
            <a:lvl1pPr marL="0" indent="0">
              <a:buNone/>
              <a:defRPr sz="20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12BC88-6A2B-4851-9568-23A4B74D9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10/26/2022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82CFE5-65C3-4F46-9141-464545594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21B390-4E13-4481-AC02-FF126656C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466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E02F8-47BB-4D30-8EFE-69C9222D9E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84648" y="758952"/>
            <a:ext cx="6245352" cy="2240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844D33-6BF0-4205-A542-8537E3515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84647" y="3273551"/>
            <a:ext cx="6245351" cy="22402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6953A83-D2BE-4015-8D64-BE93DDFE5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10/26/2022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A849E67-05F9-4033-B033-74D6B8C8E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FAAC6AA-CFFB-438F-9327-DDB023E2E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A4960CB-ABA7-4442-AB15-FE444F23C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90505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348291-9C7D-407E-8D07-FA3A323EA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4648" y="758952"/>
            <a:ext cx="6245352" cy="548640"/>
          </a:xfrm>
        </p:spPr>
        <p:txBody>
          <a:bodyPr anchor="b"/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A192D2-8BA6-4A4D-814D-AD37A2A10A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90323" y="1377198"/>
            <a:ext cx="6239675" cy="182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6FD4BC-C948-41C4-BA24-5D26147E1C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84647" y="3319548"/>
            <a:ext cx="6245351" cy="548640"/>
          </a:xfrm>
        </p:spPr>
        <p:txBody>
          <a:bodyPr anchor="b"/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2E359C-F73D-4F1B-9F9A-6D62856710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84646" y="3932372"/>
            <a:ext cx="6245352" cy="182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76B63AE-38FF-40DD-A543-32DD98E6B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C686C0EB-E082-4BAB-99E8-B42F3C28B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10/26/2022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3CB0152-BA1F-48C7-A66F-3ADB51C94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D1C21B3-5CF6-415F-8295-EED3DF5CB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386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470D5-4EB9-4410-A8AE-6D85F1923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887FB59-BA77-4864-B9E8-994851250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10/26/2022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6F0BC0B-BA67-455B-B567-1473DF062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CF0BCF3-6FB5-4529-AA6A-A31467351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706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F1315B-6865-4A5A-91C1-B75339038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10/26/2022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536720-08C7-43DE-8EB5-CAB52D0E9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477AF-B012-491C-AE42-22DE1203B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106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183AC-72A9-43F5-A1B3-1D7A6A4C7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758951"/>
            <a:ext cx="6245352" cy="475488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045592-52ED-4270-ACBB-BCC528DAC4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8953" y="3815080"/>
            <a:ext cx="3831336" cy="169875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9A93518-F9B5-418F-9883-BEF8359B0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10/26/2022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7B9FFE7-C4AB-425B-9B56-E412C722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9231052-EBA8-4781-B28A-2FEA8BE52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DBF9E7-F686-4FA1-9BA5-69BDD014B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29301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544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16CF06-B27C-4DC4-981D-38E31997BD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758951"/>
            <a:ext cx="6245352" cy="475488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976E66-2CB3-4F47-97F6-077C42818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8952" y="3794760"/>
            <a:ext cx="3831336" cy="1719072"/>
          </a:xfrm>
        </p:spPr>
        <p:txBody>
          <a:bodyPr>
            <a:normAutofit/>
          </a:bodyPr>
          <a:lstStyle>
            <a:lvl1pPr marL="0" indent="0">
              <a:buNone/>
              <a:defRPr sz="20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414C9F-CBBD-4D5E-A831-BC0CDFEBC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10/26/2022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58DC0C8-B580-442D-8DAC-4F0F869B1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B0D29E8-DFEE-49AB-83AF-85FF25252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EAAF1B-6B6E-4D37-8F57-E403C6371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29260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305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59FCF-ACDF-495D-ACFA-15FCAC9EA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3786E3-AB17-427E-8EF8-7FCB671A11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33B4E9-7A16-448C-8BE6-B14941A34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10/26/2022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9212F5-5835-49FF-836F-5E3008A0E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9D492B-E5EE-4D24-A087-57D739CFA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2928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31E395-94BD-4E79-8E42-9CD4EB33CA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475542" y="758952"/>
            <a:ext cx="2954458" cy="498600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9AA8A4-66BC-4E80-ABE3-F533F82B88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58952" y="758952"/>
            <a:ext cx="7407586" cy="49860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DA4EA6-6A1A-48ED-9D79-A438561C7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10/26/2022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49B2BA-9250-4EBF-8820-10BDA5C1C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914475-55F3-4C46-BAE2-E4D93E9E3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724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 title="Page Number Shape">
            <a:extLst>
              <a:ext uri="{FF2B5EF4-FFF2-40B4-BE49-F238E27FC236}">
                <a16:creationId xmlns:a16="http://schemas.microsoft.com/office/drawing/2014/main" id="{72411438-92A5-42B0-9C54-EA4FB32ACB5E}"/>
              </a:ext>
            </a:extLst>
          </p:cNvPr>
          <p:cNvSpPr/>
          <p:nvPr/>
        </p:nvSpPr>
        <p:spPr bwMode="auto">
          <a:xfrm>
            <a:off x="11784011" y="5778801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56E4D8-47B6-4DEC-BD29-B3B6ED4CC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4754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0F5D4C-4873-4052-A294-99CCB9421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4648" y="758952"/>
            <a:ext cx="6245352" cy="47548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D62B3-3490-46B4-A10E-33FCE4A1FB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16952" y="6007608"/>
            <a:ext cx="3813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r"/>
            <a:fld id="{53BEF823-48A5-43FC-BE03-E79964288B41}" type="datetimeFigureOut">
              <a:rPr lang="en-US" smtClean="0"/>
              <a:pPr algn="r"/>
              <a:t>10/26/2022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24CB1-7D5F-4F52-9F99-7068F5819E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8952" y="6007608"/>
            <a:ext cx="38313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F9CC9-1431-4569-B2F1-D048149553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86616" y="6007608"/>
            <a:ext cx="411480" cy="365125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lvl1pPr algn="r">
              <a:defRPr sz="900" b="1">
                <a:solidFill>
                  <a:schemeClr val="bg1"/>
                </a:solidFill>
              </a:defRPr>
            </a:lvl1pPr>
          </a:lstStyle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2271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i="1" kern="1200" spc="1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182880" indent="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None/>
        <a:defRPr sz="18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82880" indent="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None/>
        <a:defRPr sz="14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slide" Target="slide6.xml"/><Relationship Id="rId5" Type="http://schemas.openxmlformats.org/officeDocument/2006/relationships/slide" Target="slide5.xml"/><Relationship Id="rId4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3" descr="Greenlight on traffic light">
            <a:extLst>
              <a:ext uri="{FF2B5EF4-FFF2-40B4-BE49-F238E27FC236}">
                <a16:creationId xmlns:a16="http://schemas.microsoft.com/office/drawing/2014/main" id="{7E863522-5E1E-EA16-8EC1-3BCBF3DF6E0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l="1293" r="12466" b="-1"/>
          <a:stretch/>
        </p:blipFill>
        <p:spPr>
          <a:xfrm>
            <a:off x="3331593" y="10"/>
            <a:ext cx="8860407" cy="6857990"/>
          </a:xfrm>
          <a:custGeom>
            <a:avLst/>
            <a:gdLst/>
            <a:ahLst/>
            <a:cxnLst/>
            <a:rect l="l" t="t" r="r" b="b"/>
            <a:pathLst>
              <a:path w="8860407" h="6858000">
                <a:moveTo>
                  <a:pt x="0" y="0"/>
                </a:moveTo>
                <a:lnTo>
                  <a:pt x="8860407" y="0"/>
                </a:lnTo>
                <a:lnTo>
                  <a:pt x="8860407" y="6858000"/>
                </a:lnTo>
                <a:lnTo>
                  <a:pt x="661049" y="6858000"/>
                </a:lnTo>
                <a:lnTo>
                  <a:pt x="832672" y="6662026"/>
                </a:lnTo>
                <a:cubicBezTo>
                  <a:pt x="1465328" y="5866432"/>
                  <a:pt x="1845374" y="4846462"/>
                  <a:pt x="1845374" y="3734370"/>
                </a:cubicBezTo>
                <a:cubicBezTo>
                  <a:pt x="1845374" y="2244963"/>
                  <a:pt x="1163691" y="920792"/>
                  <a:pt x="106458" y="79568"/>
                </a:cubicBez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10934A-4750-806F-9BA6-8E1816F33C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8952" y="1128811"/>
            <a:ext cx="3447288" cy="3342290"/>
          </a:xfrm>
        </p:spPr>
        <p:txBody>
          <a:bodyPr anchor="b">
            <a:normAutofit/>
          </a:bodyPr>
          <a:lstStyle/>
          <a:p>
            <a:r>
              <a:rPr lang="en-US" sz="5400" dirty="0"/>
              <a:t>On-Demand Traffic Light Control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921152-283E-F497-108A-5B9A77BD39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529" y="5071363"/>
            <a:ext cx="3914442" cy="1126364"/>
          </a:xfrm>
        </p:spPr>
        <p:txBody>
          <a:bodyPr anchor="t"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Done by:</a:t>
            </a:r>
          </a:p>
          <a:p>
            <a:r>
              <a:rPr lang="en-US" dirty="0"/>
              <a:t> Mohamed Salah Abd-Allah</a:t>
            </a:r>
          </a:p>
        </p:txBody>
      </p:sp>
      <p:sp>
        <p:nvSpPr>
          <p:cNvPr id="32" name="Freeform 6">
            <a:extLst>
              <a:ext uri="{FF2B5EF4-FFF2-40B4-BE49-F238E27FC236}">
                <a16:creationId xmlns:a16="http://schemas.microsoft.com/office/drawing/2014/main" id="{ADA271CD-3011-4A05-B4A3-80F179468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8152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361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9B32AB-2F6D-2298-DC40-28E51990C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7532" y="1063255"/>
            <a:ext cx="5312254" cy="1806727"/>
          </a:xfrm>
        </p:spPr>
        <p:txBody>
          <a:bodyPr>
            <a:normAutofit/>
          </a:bodyPr>
          <a:lstStyle/>
          <a:p>
            <a:r>
              <a:rPr lang="en-US" dirty="0"/>
              <a:t>Table of content:	</a:t>
            </a:r>
          </a:p>
        </p:txBody>
      </p:sp>
      <p:pic>
        <p:nvPicPr>
          <p:cNvPr id="5" name="Picture 4" descr="Person writing on a notepad">
            <a:extLst>
              <a:ext uri="{FF2B5EF4-FFF2-40B4-BE49-F238E27FC236}">
                <a16:creationId xmlns:a16="http://schemas.microsoft.com/office/drawing/2014/main" id="{48017230-43BB-07BF-DD2C-2613571370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560" r="16175"/>
          <a:stretch/>
        </p:blipFill>
        <p:spPr>
          <a:xfrm>
            <a:off x="1" y="10"/>
            <a:ext cx="5215066" cy="6857990"/>
          </a:xfrm>
          <a:custGeom>
            <a:avLst/>
            <a:gdLst/>
            <a:ahLst/>
            <a:cxnLst/>
            <a:rect l="l" t="t" r="r" b="b"/>
            <a:pathLst>
              <a:path w="5215066" h="6845983">
                <a:moveTo>
                  <a:pt x="0" y="0"/>
                </a:moveTo>
                <a:lnTo>
                  <a:pt x="3197713" y="0"/>
                </a:lnTo>
                <a:lnTo>
                  <a:pt x="3259787" y="39795"/>
                </a:lnTo>
                <a:cubicBezTo>
                  <a:pt x="4439462" y="836768"/>
                  <a:pt x="5215066" y="2186425"/>
                  <a:pt x="5215066" y="3717234"/>
                </a:cubicBezTo>
                <a:cubicBezTo>
                  <a:pt x="5215066" y="4788800"/>
                  <a:pt x="4835020" y="5771602"/>
                  <a:pt x="4202364" y="6538204"/>
                </a:cubicBezTo>
                <a:lnTo>
                  <a:pt x="3922635" y="6845983"/>
                </a:lnTo>
                <a:lnTo>
                  <a:pt x="0" y="6845983"/>
                </a:lnTo>
                <a:close/>
              </a:path>
            </a:pathLst>
          </a:cu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1FC086D-39EC-448D-97E7-FF232355A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86332" y="3088919"/>
            <a:ext cx="521208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38A00-2482-B009-2BD1-ADB41B30F2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7532" y="3309582"/>
            <a:ext cx="5312254" cy="248515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System description</a:t>
            </a:r>
            <a:endParaRPr lang="en-US" b="1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System design</a:t>
            </a:r>
            <a:r>
              <a:rPr lang="en-US" b="1" dirty="0">
                <a:solidFill>
                  <a:schemeClr val="tx1"/>
                </a:solidFill>
              </a:rPr>
              <a:t>:</a:t>
            </a:r>
          </a:p>
          <a:p>
            <a:pPr lvl="1"/>
            <a:r>
              <a:rPr lang="en-US" i="0" dirty="0">
                <a:solidFill>
                  <a:schemeClr val="tx1"/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Project’s file structure</a:t>
            </a:r>
            <a:endParaRPr lang="en-US" i="0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System flow chart</a:t>
            </a: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223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F264D-1DFE-CD7B-71A2-74FEC9C0E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76537"/>
            <a:ext cx="3831336" cy="4754880"/>
          </a:xfrm>
        </p:spPr>
        <p:txBody>
          <a:bodyPr/>
          <a:lstStyle/>
          <a:p>
            <a:r>
              <a:rPr lang="en-US" dirty="0"/>
              <a:t>System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61551-BBAF-EAD5-159E-822180BD81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6831" y="0"/>
            <a:ext cx="8557404" cy="685799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The system is responsible to handle both 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car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pedestrian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traffic. The system will have 2 modes: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1- Normal Mode:</a:t>
            </a:r>
          </a:p>
          <a:p>
            <a:pPr marL="0" indent="0"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In this Mode, the light traffic will handle cars and pedestrians automatically without any interruptions as:</a:t>
            </a:r>
          </a:p>
          <a:p>
            <a:pPr marL="0" indent="0"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• Cars' LEDs will be changed every five seconds starting from Green then yellow then red then yellow </a:t>
            </a:r>
          </a:p>
          <a:p>
            <a:pPr marL="0" indent="0"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then Green.</a:t>
            </a:r>
          </a:p>
          <a:p>
            <a:pPr marL="0" indent="0"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• The Yellow LED will blink for five seconds before moving to Green or Red LEDs.</a:t>
            </a:r>
          </a:p>
          <a:p>
            <a:pPr marL="0" indent="0">
              <a:buNone/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2- Pedestrian mode:</a:t>
            </a:r>
          </a:p>
          <a:p>
            <a:pPr marL="0" indent="0"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This mode is for pedestrian to interrupt the system by pressing a button so, the system will change its </a:t>
            </a:r>
          </a:p>
          <a:p>
            <a:pPr marL="0" indent="0"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operating system to Pedestrian mode. The transaction scenario will be handled as follow:</a:t>
            </a:r>
          </a:p>
          <a:p>
            <a:pPr marL="0" indent="0"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• Change from normal mode to pedestrian mode when the pedestrian button is pressed.</a:t>
            </a:r>
          </a:p>
          <a:p>
            <a:pPr marL="0" indent="0"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• If pressed when the car’s Red LED is on, the pedestrian's Green LED and the car’s Red LEDs will </a:t>
            </a:r>
          </a:p>
          <a:p>
            <a:pPr marL="0" indent="0"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be on for five seconds, this means that pedestrians can cross the street while the pedestrian's Green </a:t>
            </a:r>
          </a:p>
          <a:p>
            <a:pPr marL="0" indent="0"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LED is on.</a:t>
            </a:r>
          </a:p>
          <a:p>
            <a:pPr marL="0" indent="0"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• If pressed when the car’s Green LED is on or the car’s Yellow LED is blinking, the pedestrian Red </a:t>
            </a:r>
          </a:p>
          <a:p>
            <a:pPr marL="0" indent="0"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LED will be on then both Yellow LEDs start to blink for five seconds, then the cars' Red LED and </a:t>
            </a:r>
          </a:p>
          <a:p>
            <a:pPr marL="0" indent="0"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pedestrian Green LEDs are on for five seconds, this means that pedestrian must wait until the Green </a:t>
            </a:r>
          </a:p>
          <a:p>
            <a:pPr marL="0" indent="0"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LED is on.</a:t>
            </a:r>
          </a:p>
          <a:p>
            <a:pPr marL="0" indent="0"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• At the end of the two states, the cars' Red LED will be off and both Yellow LEDs start blinking for 5 </a:t>
            </a:r>
          </a:p>
          <a:p>
            <a:pPr marL="0" indent="0"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seconds and the pedestrian's Green LED is still on.</a:t>
            </a:r>
          </a:p>
          <a:p>
            <a:pPr marL="0" indent="0"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• After five seconds the pedestrian Green LED will be off and both the pedestrian Red LED and the </a:t>
            </a:r>
          </a:p>
          <a:p>
            <a:pPr marL="0" indent="0"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cars' Green LED will be on.</a:t>
            </a:r>
          </a:p>
          <a:p>
            <a:pPr marL="0" indent="0"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• Traffic lights signals are going to the normal mode again.</a:t>
            </a:r>
          </a:p>
        </p:txBody>
      </p:sp>
    </p:spTree>
    <p:extLst>
      <p:ext uri="{BB962C8B-B14F-4D97-AF65-F5344CB8AC3E}">
        <p14:creationId xmlns:p14="http://schemas.microsoft.com/office/powerpoint/2010/main" val="3533973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6B2F8-E9E6-BE83-88B3-9F651BA9E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58952"/>
            <a:ext cx="4590288" cy="4754880"/>
          </a:xfrm>
        </p:spPr>
        <p:txBody>
          <a:bodyPr>
            <a:normAutofit/>
          </a:bodyPr>
          <a:lstStyle/>
          <a:p>
            <a:r>
              <a:rPr lang="en-US" dirty="0"/>
              <a:t>System design:</a:t>
            </a:r>
            <a:br>
              <a:rPr lang="en-US" dirty="0"/>
            </a:br>
            <a:br>
              <a:rPr lang="ar-EG" dirty="0"/>
            </a:br>
            <a:r>
              <a:rPr lang="en-US" sz="2800" i="0" dirty="0"/>
              <a:t>following the layered architecture concept</a:t>
            </a:r>
            <a:endParaRPr lang="en-US" i="0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9253607-D69E-2632-5248-8D01E9E6A9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9889097"/>
              </p:ext>
            </p:extLst>
          </p:nvPr>
        </p:nvGraphicFramePr>
        <p:xfrm>
          <a:off x="4813540" y="750326"/>
          <a:ext cx="6935637" cy="55383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35637">
                  <a:extLst>
                    <a:ext uri="{9D8B030D-6E8A-4147-A177-3AD203B41FA5}">
                      <a16:colId xmlns:a16="http://schemas.microsoft.com/office/drawing/2014/main" val="1471286660"/>
                    </a:ext>
                  </a:extLst>
                </a:gridCol>
              </a:tblGrid>
              <a:tr h="184611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APP layer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4731982"/>
                  </a:ext>
                </a:extLst>
              </a:tr>
              <a:tr h="184611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ECUAL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6251184"/>
                  </a:ext>
                </a:extLst>
              </a:tr>
              <a:tr h="184611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MCAL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512748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F844D0B-ACC1-E289-0F59-7E91AD8EF799}"/>
              </a:ext>
            </a:extLst>
          </p:cNvPr>
          <p:cNvSpPr/>
          <p:nvPr/>
        </p:nvSpPr>
        <p:spPr>
          <a:xfrm>
            <a:off x="7417461" y="5057136"/>
            <a:ext cx="1619031" cy="760695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0">
                  <a:noFill/>
                </a:ln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Timer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2791713-0F53-46E1-A16B-1564F716C25D}"/>
              </a:ext>
            </a:extLst>
          </p:cNvPr>
          <p:cNvSpPr/>
          <p:nvPr/>
        </p:nvSpPr>
        <p:spPr>
          <a:xfrm>
            <a:off x="9473274" y="5045634"/>
            <a:ext cx="1619031" cy="760695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0">
                  <a:noFill/>
                </a:ln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Interrupt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4E97DAC-2700-4421-C952-BF7145920EBC}"/>
              </a:ext>
            </a:extLst>
          </p:cNvPr>
          <p:cNvSpPr/>
          <p:nvPr/>
        </p:nvSpPr>
        <p:spPr>
          <a:xfrm>
            <a:off x="5361648" y="5057136"/>
            <a:ext cx="1619031" cy="760695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0">
                  <a:noFill/>
                </a:ln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DIO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0F17E70-4ECE-0F56-F844-1A5B74D88871}"/>
              </a:ext>
            </a:extLst>
          </p:cNvPr>
          <p:cNvSpPr/>
          <p:nvPr/>
        </p:nvSpPr>
        <p:spPr>
          <a:xfrm>
            <a:off x="8614177" y="3171581"/>
            <a:ext cx="1619031" cy="760695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0">
                  <a:noFill/>
                </a:ln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BUTTON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35F9896-6C9C-FCDE-6151-25F7BC608E0C}"/>
              </a:ext>
            </a:extLst>
          </p:cNvPr>
          <p:cNvSpPr/>
          <p:nvPr/>
        </p:nvSpPr>
        <p:spPr>
          <a:xfrm>
            <a:off x="6309101" y="3162207"/>
            <a:ext cx="1619031" cy="760695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0">
                  <a:noFill/>
                </a:ln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LED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A9FD3AB-1E5E-FD70-AE89-B4A35B15867C}"/>
              </a:ext>
            </a:extLst>
          </p:cNvPr>
          <p:cNvSpPr/>
          <p:nvPr/>
        </p:nvSpPr>
        <p:spPr>
          <a:xfrm>
            <a:off x="7347119" y="1320484"/>
            <a:ext cx="1759713" cy="760695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0">
                  <a:noFill/>
                </a:ln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Application</a:t>
            </a:r>
          </a:p>
        </p:txBody>
      </p:sp>
    </p:spTree>
    <p:extLst>
      <p:ext uri="{BB962C8B-B14F-4D97-AF65-F5344CB8AC3E}">
        <p14:creationId xmlns:p14="http://schemas.microsoft.com/office/powerpoint/2010/main" val="3461472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0F3CA-9D04-8727-406C-F34F44506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758952"/>
            <a:ext cx="4791075" cy="5413248"/>
          </a:xfrm>
        </p:spPr>
        <p:txBody>
          <a:bodyPr/>
          <a:lstStyle/>
          <a:p>
            <a:r>
              <a:rPr lang="en-US" dirty="0"/>
              <a:t>Project’s folder structure: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4888F6-FD03-B166-DB24-827F00CC86C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264"/>
          <a:stretch/>
        </p:blipFill>
        <p:spPr>
          <a:xfrm>
            <a:off x="4791074" y="0"/>
            <a:ext cx="6958264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402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82BC8-EBCA-7EEF-2BEC-19FC8BCCB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58952"/>
            <a:ext cx="4590288" cy="4754880"/>
          </a:xfrm>
        </p:spPr>
        <p:txBody>
          <a:bodyPr/>
          <a:lstStyle/>
          <a:p>
            <a:r>
              <a:rPr lang="en-US" dirty="0"/>
              <a:t>Flow-chart Of The App:</a:t>
            </a: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5A23B4C6-CCA5-C767-D71F-DCD0DE2BE1B5}"/>
              </a:ext>
            </a:extLst>
          </p:cNvPr>
          <p:cNvGrpSpPr/>
          <p:nvPr/>
        </p:nvGrpSpPr>
        <p:grpSpPr>
          <a:xfrm>
            <a:off x="3591303" y="0"/>
            <a:ext cx="8120637" cy="6774180"/>
            <a:chOff x="3591303" y="0"/>
            <a:chExt cx="8001761" cy="5727145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93DC1D72-7491-8F97-64A0-5A18B592AB55}"/>
                </a:ext>
              </a:extLst>
            </p:cNvPr>
            <p:cNvSpPr/>
            <p:nvPr/>
          </p:nvSpPr>
          <p:spPr>
            <a:xfrm>
              <a:off x="6571657" y="0"/>
              <a:ext cx="1501975" cy="56025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START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8530D24F-E936-4CA6-5440-5C0336C432BB}"/>
                </a:ext>
              </a:extLst>
            </p:cNvPr>
            <p:cNvCxnSpPr>
              <a:cxnSpLocks/>
              <a:stCxn id="4" idx="4"/>
            </p:cNvCxnSpPr>
            <p:nvPr/>
          </p:nvCxnSpPr>
          <p:spPr>
            <a:xfrm>
              <a:off x="7322645" y="560252"/>
              <a:ext cx="0" cy="24829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6465133-22DF-2EEE-ED84-DEFA4C1D9D8E}"/>
                </a:ext>
              </a:extLst>
            </p:cNvPr>
            <p:cNvSpPr/>
            <p:nvPr/>
          </p:nvSpPr>
          <p:spPr>
            <a:xfrm>
              <a:off x="6628605" y="808546"/>
              <a:ext cx="1359597" cy="48385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Normal mode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3C944AE8-B287-0083-F960-398563B3993A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 flipH="1">
              <a:off x="7308403" y="1292400"/>
              <a:ext cx="1" cy="3055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Flowchart: Decision 11">
              <a:extLst>
                <a:ext uri="{FF2B5EF4-FFF2-40B4-BE49-F238E27FC236}">
                  <a16:creationId xmlns:a16="http://schemas.microsoft.com/office/drawing/2014/main" id="{F3A3A2E8-AA1F-3BC5-B660-418E3636AC9D}"/>
                </a:ext>
              </a:extLst>
            </p:cNvPr>
            <p:cNvSpPr/>
            <p:nvPr/>
          </p:nvSpPr>
          <p:spPr>
            <a:xfrm>
              <a:off x="6628605" y="1604358"/>
              <a:ext cx="1359597" cy="967708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/>
                <a:t>PED button = TRUE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339F8280-48D9-43CB-8D3E-E2D4C8856D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20866" y="611184"/>
              <a:ext cx="12857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or: Elbow 30">
              <a:extLst>
                <a:ext uri="{FF2B5EF4-FFF2-40B4-BE49-F238E27FC236}">
                  <a16:creationId xmlns:a16="http://schemas.microsoft.com/office/drawing/2014/main" id="{E68622C9-A892-C17C-B668-BCE179FE8A94}"/>
                </a:ext>
              </a:extLst>
            </p:cNvPr>
            <p:cNvCxnSpPr>
              <a:cxnSpLocks/>
              <a:endCxn id="12" idx="3"/>
            </p:cNvCxnSpPr>
            <p:nvPr/>
          </p:nvCxnSpPr>
          <p:spPr>
            <a:xfrm rot="5400000">
              <a:off x="7558910" y="1040477"/>
              <a:ext cx="1477028" cy="618444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BB8E27E-3C18-F5D3-A87B-09FD37ABEA2C}"/>
                </a:ext>
              </a:extLst>
            </p:cNvPr>
            <p:cNvSpPr txBox="1"/>
            <p:nvPr/>
          </p:nvSpPr>
          <p:spPr>
            <a:xfrm>
              <a:off x="7988201" y="1815636"/>
              <a:ext cx="618444" cy="3122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NO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4358D754-E9A7-E4A1-9100-261C763CAEB3}"/>
                </a:ext>
              </a:extLst>
            </p:cNvPr>
            <p:cNvCxnSpPr>
              <a:cxnSpLocks/>
              <a:stCxn id="12" idx="2"/>
              <a:endCxn id="41" idx="0"/>
            </p:cNvCxnSpPr>
            <p:nvPr/>
          </p:nvCxnSpPr>
          <p:spPr>
            <a:xfrm>
              <a:off x="7308404" y="2572066"/>
              <a:ext cx="17581" cy="17643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Flowchart: Decision 40">
              <a:extLst>
                <a:ext uri="{FF2B5EF4-FFF2-40B4-BE49-F238E27FC236}">
                  <a16:creationId xmlns:a16="http://schemas.microsoft.com/office/drawing/2014/main" id="{8823E525-317D-C13D-9CD6-7380C31694AE}"/>
                </a:ext>
              </a:extLst>
            </p:cNvPr>
            <p:cNvSpPr/>
            <p:nvPr/>
          </p:nvSpPr>
          <p:spPr>
            <a:xfrm>
              <a:off x="6411138" y="2748504"/>
              <a:ext cx="1829694" cy="1081124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/>
                <a:t>Car RED LED=TRUE</a:t>
              </a:r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4719FEB9-C743-F505-F371-35E0F553E782}"/>
                </a:ext>
              </a:extLst>
            </p:cNvPr>
            <p:cNvCxnSpPr>
              <a:cxnSpLocks/>
              <a:stCxn id="41" idx="3"/>
            </p:cNvCxnSpPr>
            <p:nvPr/>
          </p:nvCxnSpPr>
          <p:spPr>
            <a:xfrm flipV="1">
              <a:off x="8240832" y="3289066"/>
              <a:ext cx="708019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A6E31427-F41C-5A0B-2796-A7F1553A7F75}"/>
                </a:ext>
              </a:extLst>
            </p:cNvPr>
            <p:cNvCxnSpPr>
              <a:cxnSpLocks/>
              <a:stCxn id="41" idx="1"/>
              <a:endCxn id="58" idx="3"/>
            </p:cNvCxnSpPr>
            <p:nvPr/>
          </p:nvCxnSpPr>
          <p:spPr>
            <a:xfrm flipH="1" flipV="1">
              <a:off x="5850248" y="3271467"/>
              <a:ext cx="560890" cy="1759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3E63DF41-ED14-3EF2-AB06-E15EB29EA8DA}"/>
                </a:ext>
              </a:extLst>
            </p:cNvPr>
            <p:cNvSpPr/>
            <p:nvPr/>
          </p:nvSpPr>
          <p:spPr>
            <a:xfrm>
              <a:off x="8957174" y="3031731"/>
              <a:ext cx="2248539" cy="63527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100" b="1" i="0" dirty="0">
                  <a:solidFill>
                    <a:schemeClr val="bg1"/>
                  </a:solidFill>
                  <a:effectLst/>
                  <a:latin typeface="Open Sans" panose="020B0606030504020204" pitchFamily="34" charset="0"/>
                </a:rPr>
                <a:t>the pedestrian Red LED will be on then both Yellow LEDs start to blink for </a:t>
              </a:r>
              <a:r>
                <a:rPr lang="en-US" sz="1100" b="1" i="1" dirty="0">
                  <a:solidFill>
                    <a:schemeClr val="bg1"/>
                  </a:solidFill>
                  <a:effectLst/>
                  <a:latin typeface="Open Sans" panose="020B0606030504020204" pitchFamily="34" charset="0"/>
                </a:rPr>
                <a:t>five seconds</a:t>
              </a:r>
              <a:endParaRPr lang="en-US" sz="1100" b="1" dirty="0">
                <a:solidFill>
                  <a:schemeClr val="bg1"/>
                </a:solidFill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9B1EA7DA-40E2-9FF0-94FB-69C90F1A8B0A}"/>
                </a:ext>
              </a:extLst>
            </p:cNvPr>
            <p:cNvSpPr/>
            <p:nvPr/>
          </p:nvSpPr>
          <p:spPr>
            <a:xfrm>
              <a:off x="3591303" y="2953829"/>
              <a:ext cx="2258945" cy="63527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100" b="1" i="0" dirty="0">
                  <a:solidFill>
                    <a:schemeClr val="bg1"/>
                  </a:solidFill>
                  <a:effectLst/>
                  <a:latin typeface="Open Sans" panose="020B0606030504020204" pitchFamily="34" charset="0"/>
                </a:rPr>
                <a:t>Pedestrian's Green LED and the cars' Red LEDs will be on for </a:t>
              </a:r>
              <a:r>
                <a:rPr lang="en-US" sz="1100" b="1" i="1" dirty="0">
                  <a:solidFill>
                    <a:schemeClr val="bg1"/>
                  </a:solidFill>
                  <a:effectLst/>
                  <a:latin typeface="Open Sans" panose="020B0606030504020204" pitchFamily="34" charset="0"/>
                </a:rPr>
                <a:t>five seconds</a:t>
              </a:r>
              <a:r>
                <a:rPr lang="en-US" sz="1100" b="1" i="0" dirty="0">
                  <a:solidFill>
                    <a:schemeClr val="bg1"/>
                  </a:solidFill>
                  <a:effectLst/>
                  <a:latin typeface="Open Sans" panose="020B0606030504020204" pitchFamily="34" charset="0"/>
                </a:rPr>
                <a:t>, </a:t>
              </a:r>
              <a:endParaRPr lang="en-US" sz="1100" b="1" dirty="0">
                <a:solidFill>
                  <a:schemeClr val="bg1"/>
                </a:solidFill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B9118A9-CB7A-A721-EE13-C35108E9D9A1}"/>
                </a:ext>
              </a:extLst>
            </p:cNvPr>
            <p:cNvSpPr txBox="1"/>
            <p:nvPr/>
          </p:nvSpPr>
          <p:spPr>
            <a:xfrm>
              <a:off x="8091079" y="3016490"/>
              <a:ext cx="618444" cy="3122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NO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942B1D30-B1B1-BE1F-AAEB-7586C1F3DB7A}"/>
                </a:ext>
              </a:extLst>
            </p:cNvPr>
            <p:cNvSpPr txBox="1"/>
            <p:nvPr/>
          </p:nvSpPr>
          <p:spPr>
            <a:xfrm>
              <a:off x="5971359" y="2998892"/>
              <a:ext cx="618444" cy="3122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YES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B0BA008-C670-95A8-8DA3-73C37A4B78DB}"/>
                </a:ext>
              </a:extLst>
            </p:cNvPr>
            <p:cNvSpPr txBox="1"/>
            <p:nvPr/>
          </p:nvSpPr>
          <p:spPr>
            <a:xfrm rot="5400000">
              <a:off x="7474243" y="2478935"/>
              <a:ext cx="553123" cy="3639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YES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22B3A14-7888-7534-0DAB-9833A24A6F34}"/>
                </a:ext>
              </a:extLst>
            </p:cNvPr>
            <p:cNvSpPr/>
            <p:nvPr/>
          </p:nvSpPr>
          <p:spPr>
            <a:xfrm>
              <a:off x="8949191" y="4063719"/>
              <a:ext cx="2248539" cy="63527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100" b="1" i="0" dirty="0">
                  <a:solidFill>
                    <a:schemeClr val="bg1"/>
                  </a:solidFill>
                  <a:effectLst/>
                  <a:latin typeface="Open Sans" panose="020B0606030504020204" pitchFamily="34" charset="0"/>
                </a:rPr>
                <a:t>Cars' Red LED and pedestrian Green LEDs are on for </a:t>
              </a:r>
              <a:r>
                <a:rPr lang="en-US" sz="1100" b="1" i="1" dirty="0">
                  <a:solidFill>
                    <a:schemeClr val="bg1"/>
                  </a:solidFill>
                  <a:effectLst/>
                  <a:latin typeface="Open Sans" panose="020B0606030504020204" pitchFamily="34" charset="0"/>
                </a:rPr>
                <a:t>five seconds</a:t>
              </a:r>
              <a:endParaRPr lang="en-US" sz="1100" b="1" dirty="0">
                <a:solidFill>
                  <a:schemeClr val="bg1"/>
                </a:solidFill>
              </a:endParaRPr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6ECF0365-4EFF-ED21-3DDA-FFF1F30B834B}"/>
                </a:ext>
              </a:extLst>
            </p:cNvPr>
            <p:cNvCxnSpPr>
              <a:cxnSpLocks/>
              <a:stCxn id="57" idx="2"/>
              <a:endCxn id="62" idx="0"/>
            </p:cNvCxnSpPr>
            <p:nvPr/>
          </p:nvCxnSpPr>
          <p:spPr>
            <a:xfrm flipH="1">
              <a:off x="10073461" y="3667008"/>
              <a:ext cx="7983" cy="39671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47BEC6D8-764C-511D-C945-6DA1B5B0E2DE}"/>
                </a:ext>
              </a:extLst>
            </p:cNvPr>
            <p:cNvSpPr/>
            <p:nvPr/>
          </p:nvSpPr>
          <p:spPr>
            <a:xfrm>
              <a:off x="6163488" y="3988481"/>
              <a:ext cx="2258945" cy="78575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100" b="1" i="0" dirty="0">
                  <a:solidFill>
                    <a:schemeClr val="bg1"/>
                  </a:solidFill>
                  <a:effectLst/>
                  <a:latin typeface="Open Sans" panose="020B0606030504020204" pitchFamily="34" charset="0"/>
                </a:rPr>
                <a:t>cars' Red LED will be off and both Yellow LEDs start blinking for </a:t>
              </a:r>
              <a:r>
                <a:rPr lang="en-US" sz="1100" b="1" i="1" dirty="0">
                  <a:solidFill>
                    <a:schemeClr val="bg1"/>
                  </a:solidFill>
                  <a:effectLst/>
                  <a:latin typeface="Open Sans" panose="020B0606030504020204" pitchFamily="34" charset="0"/>
                </a:rPr>
                <a:t>five seconds</a:t>
              </a:r>
              <a:r>
                <a:rPr lang="en-US" sz="1100" b="1" i="0" dirty="0">
                  <a:solidFill>
                    <a:schemeClr val="bg1"/>
                  </a:solidFill>
                  <a:effectLst/>
                  <a:latin typeface="Open Sans" panose="020B0606030504020204" pitchFamily="34" charset="0"/>
                </a:rPr>
                <a:t> and the pedestrian's Green LED is still on.</a:t>
              </a:r>
              <a:endParaRPr lang="en-US" sz="1100" b="1" dirty="0">
                <a:solidFill>
                  <a:schemeClr val="bg1"/>
                </a:solidFill>
              </a:endParaRPr>
            </a:p>
          </p:txBody>
        </p: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D6EEA4DB-EF78-DD9F-B3AC-EEB56EBF3E9F}"/>
                </a:ext>
              </a:extLst>
            </p:cNvPr>
            <p:cNvCxnSpPr>
              <a:cxnSpLocks/>
              <a:stCxn id="62" idx="1"/>
              <a:endCxn id="70" idx="3"/>
            </p:cNvCxnSpPr>
            <p:nvPr/>
          </p:nvCxnSpPr>
          <p:spPr>
            <a:xfrm flipH="1" flipV="1">
              <a:off x="8422433" y="4381357"/>
              <a:ext cx="526758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nector: Elbow 74">
              <a:extLst>
                <a:ext uri="{FF2B5EF4-FFF2-40B4-BE49-F238E27FC236}">
                  <a16:creationId xmlns:a16="http://schemas.microsoft.com/office/drawing/2014/main" id="{9FA160A1-700A-DECF-B970-8A0A2C0AF9F8}"/>
                </a:ext>
              </a:extLst>
            </p:cNvPr>
            <p:cNvCxnSpPr>
              <a:cxnSpLocks/>
              <a:stCxn id="58" idx="2"/>
              <a:endCxn id="70" idx="1"/>
            </p:cNvCxnSpPr>
            <p:nvPr/>
          </p:nvCxnSpPr>
          <p:spPr>
            <a:xfrm rot="16200000" flipH="1">
              <a:off x="5046006" y="3263875"/>
              <a:ext cx="792251" cy="1442713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6B89A517-2ACF-8D4F-35BF-616DE9F3E259}"/>
                </a:ext>
              </a:extLst>
            </p:cNvPr>
            <p:cNvCxnSpPr>
              <a:cxnSpLocks/>
              <a:stCxn id="70" idx="2"/>
              <a:endCxn id="81" idx="0"/>
            </p:cNvCxnSpPr>
            <p:nvPr/>
          </p:nvCxnSpPr>
          <p:spPr>
            <a:xfrm flipH="1">
              <a:off x="7289063" y="4774231"/>
              <a:ext cx="3897" cy="31763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FE06F991-3CF8-31E0-5453-4C2D6A23524B}"/>
                </a:ext>
              </a:extLst>
            </p:cNvPr>
            <p:cNvSpPr/>
            <p:nvPr/>
          </p:nvSpPr>
          <p:spPr>
            <a:xfrm>
              <a:off x="6159591" y="5091868"/>
              <a:ext cx="2258945" cy="63527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100" b="1" i="0" dirty="0">
                  <a:solidFill>
                    <a:schemeClr val="bg1"/>
                  </a:solidFill>
                  <a:effectLst/>
                  <a:latin typeface="Open Sans" panose="020B0606030504020204" pitchFamily="34" charset="0"/>
                </a:rPr>
                <a:t>Green LED will be off and both the pedestrian Red LED and the cars' Green LED will be on.</a:t>
              </a:r>
              <a:endParaRPr lang="en-US" sz="1100" b="1" dirty="0">
                <a:solidFill>
                  <a:schemeClr val="bg1"/>
                </a:solidFill>
              </a:endParaRPr>
            </a:p>
          </p:txBody>
        </p:sp>
        <p:cxnSp>
          <p:nvCxnSpPr>
            <p:cNvPr id="86" name="Connector: Elbow 85">
              <a:extLst>
                <a:ext uri="{FF2B5EF4-FFF2-40B4-BE49-F238E27FC236}">
                  <a16:creationId xmlns:a16="http://schemas.microsoft.com/office/drawing/2014/main" id="{3764C15C-878C-A872-A370-5A0DD54928AF}"/>
                </a:ext>
              </a:extLst>
            </p:cNvPr>
            <p:cNvCxnSpPr>
              <a:cxnSpLocks/>
              <a:endCxn id="81" idx="3"/>
            </p:cNvCxnSpPr>
            <p:nvPr/>
          </p:nvCxnSpPr>
          <p:spPr>
            <a:xfrm rot="5400000">
              <a:off x="7606639" y="1423082"/>
              <a:ext cx="4798322" cy="3174528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E6E5AD26-E540-0E46-E344-AC3B59C8F4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06645" y="611184"/>
              <a:ext cx="298641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71968251"/>
      </p:ext>
    </p:extLst>
  </p:cSld>
  <p:clrMapOvr>
    <a:masterClrMapping/>
  </p:clrMapOvr>
</p:sld>
</file>

<file path=ppt/theme/theme1.xml><?xml version="1.0" encoding="utf-8"?>
<a:theme xmlns:a="http://schemas.openxmlformats.org/drawingml/2006/main" name="HeadlinesVTI">
  <a:themeElements>
    <a:clrScheme name="Headlines">
      <a:dk1>
        <a:sysClr val="windowText" lastClr="000000"/>
      </a:dk1>
      <a:lt1>
        <a:sysClr val="window" lastClr="FFFFFF"/>
      </a:lt1>
      <a:dk2>
        <a:srgbClr val="232C41"/>
      </a:dk2>
      <a:lt2>
        <a:srgbClr val="F6F4EF"/>
      </a:lt2>
      <a:accent1>
        <a:srgbClr val="439EB7"/>
      </a:accent1>
      <a:accent2>
        <a:srgbClr val="E20E65"/>
      </a:accent2>
      <a:accent3>
        <a:srgbClr val="F59324"/>
      </a:accent3>
      <a:accent4>
        <a:srgbClr val="5046B9"/>
      </a:accent4>
      <a:accent5>
        <a:srgbClr val="5CB678"/>
      </a:accent5>
      <a:accent6>
        <a:srgbClr val="9717F7"/>
      </a:accent6>
      <a:hlink>
        <a:srgbClr val="E80095"/>
      </a:hlink>
      <a:folHlink>
        <a:srgbClr val="808080"/>
      </a:folHlink>
    </a:clrScheme>
    <a:fontScheme name="Custom 211">
      <a:majorFont>
        <a:latin typeface="Sitka Banner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8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6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adlinesVTI" id="{66EB4A02-0C0F-47F1-9F48-4E6882B9F967}" vid="{F3552358-4452-4FDA-9568-4F5DA32F7A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1679</TotalTime>
  <Words>482</Words>
  <Application>Microsoft Office PowerPoint</Application>
  <PresentationFormat>Widescreen</PresentationFormat>
  <Paragraphs>57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Avenir Next LT Pro</vt:lpstr>
      <vt:lpstr>Open Sans</vt:lpstr>
      <vt:lpstr>Sitka Banner</vt:lpstr>
      <vt:lpstr>HeadlinesVTI</vt:lpstr>
      <vt:lpstr>On-Demand Traffic Light Control </vt:lpstr>
      <vt:lpstr>Table of content: </vt:lpstr>
      <vt:lpstr>System description</vt:lpstr>
      <vt:lpstr>System design:  following the layered architecture concept</vt:lpstr>
      <vt:lpstr>Project’s folder structure:</vt:lpstr>
      <vt:lpstr>Flow-chart Of The App: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On-Demand Traffic Light Control </dc:title>
  <dc:creator>20812019101530</dc:creator>
  <cp:lastModifiedBy>20812019101530</cp:lastModifiedBy>
  <cp:revision>5</cp:revision>
  <dcterms:created xsi:type="dcterms:W3CDTF">2022-10-02T11:54:37Z</dcterms:created>
  <dcterms:modified xsi:type="dcterms:W3CDTF">2022-10-26T12:15:26Z</dcterms:modified>
</cp:coreProperties>
</file>